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[Program Name]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1828800" cy="54864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Status Review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[Month Year]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C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UNCLASSIFIED // FOUO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4480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Acqlerate — Defense Acquisitions Academy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88720" y="1234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program health and key highlights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88720" y="1828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Status</a:t>
            </a:r>
            <a:endParaRPr lang="en-US" sz="1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progress and current activities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88720" y="2423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Status</a:t>
            </a:r>
            <a:endParaRPr lang="en-US" sz="1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IMS performance, SPI metrics, critical path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88720" y="30175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EVM Status</a:t>
            </a:r>
            <a:endParaRPr lang="en-US" sz="1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CPI, SPI, EAC, VAC, and cost trends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6118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188720" y="3611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Status</a:t>
            </a:r>
            <a:endParaRPr lang="en-US" sz="1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risks, mitigation progress, new risks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42062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 Forward</a:t>
            </a:r>
            <a:endParaRPr lang="en-US" sz="1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30/60/90-day plan and decision requests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[Program Name]  |  Program Status Review  |  [Month Year]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468880" cy="32918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88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Health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" name="Text 4"/>
          <p:cNvSpPr/>
          <p:nvPr/>
        </p:nvSpPr>
        <p:spPr>
          <a:xfrm>
            <a:off x="1417320" y="16459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57200" cy="457200"/>
          </a:xfrm>
          <a:prstGeom prst="ellipse">
            <a:avLst/>
          </a:prstGeom>
          <a:solidFill>
            <a:srgbClr val="FFC107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429000"/>
            <a:ext cx="457200" cy="457200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3383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08960" y="1143000"/>
            <a:ext cx="2743200" cy="32918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310896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Accomplishments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91840" y="164592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PDR with no major action items</a:t>
            </a:r>
            <a:endParaRPr lang="en-US" sz="1100" dirty="0"/>
          </a:p>
          <a:p>
            <a:pPr algn="l"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Build 3.1 delivered on schedule</a:t>
            </a:r>
            <a:endParaRPr lang="en-US" sz="1100" dirty="0"/>
          </a:p>
          <a:p>
            <a:pPr algn="l"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CDRLs current; no delinquencies</a:t>
            </a:r>
            <a:endParaRPr lang="en-US" sz="1100" dirty="0"/>
          </a:p>
          <a:p>
            <a:pPr algn="l"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Subcontractor performance meeting all KPIs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143000"/>
            <a:ext cx="2743200" cy="32918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3"/>
          <p:cNvSpPr/>
          <p:nvPr/>
        </p:nvSpPr>
        <p:spPr>
          <a:xfrm>
            <a:off x="603504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Issues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0" y="164592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personnel vacancy: Deputy PM position unfilled since Feb</a:t>
            </a:r>
            <a:endParaRPr lang="en-US" sz="1100" dirty="0"/>
          </a:p>
          <a:p>
            <a:pPr algn="l"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pressure on Integration Test milestone (15 Apr)</a:t>
            </a:r>
            <a:endParaRPr lang="en-US" sz="1100" dirty="0"/>
          </a:p>
          <a:p>
            <a:pPr algn="l"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CO decision on Mod 04 (scope addition)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[Program Name]  |  Program Status Review  |  [Month Year]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Status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 is currently in the Engineering &amp; Manufacturing Development (EMD) phase. CDR is complete and the team is executing integration and test activities. No Nunn-McCurdy breaches or APB threshold exceedances.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 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Oct 2025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Oct 2025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CDR 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Jan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Jan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Test Start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 Apr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Apr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Test 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Jul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Jul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TRACK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IOT&amp;E Start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 Oct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 Oct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TRACK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IOC Declaration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Jan 2027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Jan 2027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TRACK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 Declaration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 Jul 2027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 Jul 2027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A79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[Program Name]  |  Program Status Review  |  [Month Year]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Status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011680" cy="12801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Behind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743200" y="109728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IMS Summary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IMS Activities: 847  |  Complete: 612 (72%)  |  In Progress: 89  |  Not Started: 146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 runs through Integration Test activities. A 14-day slip in CDR close-out has compressed the integration test schedule. Recovery plan focuses on parallel test execution and weekend staffing for the test team.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188720"/>
                <a:gridCol w="15544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Near-Term Milestone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Path?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Test Readiness Review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Mar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 Apr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39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Test Start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 Apr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Apr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39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Build 3.2 Delivery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Apr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Apr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 Control Document Update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Apr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Apr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Test 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Jun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Jun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[Program Name]  |  Program Status Review  |  [Month Year]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EVM Status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920240" cy="13716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70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Budget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0320" y="1097280"/>
            <a:ext cx="1920240" cy="13716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8" name="Text 6"/>
          <p:cNvSpPr/>
          <p:nvPr/>
        </p:nvSpPr>
        <p:spPr>
          <a:xfrm>
            <a:off x="2560320" y="1170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14173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560320" y="2103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Behind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1920240" cy="13716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1170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63440" y="14173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$47.2M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663440" y="2103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BAC $48.0M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66560" y="1097280"/>
            <a:ext cx="1920240" cy="13716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1170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66560" y="14173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+$0.8M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766560" y="2103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Favorable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43584"/>
                <a:gridCol w="1243584"/>
                <a:gridCol w="1243584"/>
                <a:gridCol w="1243584"/>
                <a:gridCol w="124358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EVM Element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BCWP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ACWP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Cumulative ($M)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539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($1.0)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Month ($M)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539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($0.1)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Trend: CPI has been stable above 1.0 for 6 consecutive months. SPI dipped below 1.0 this month due to CDR close-out delay; recovery expected by April.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[Program Name]  |  Program Status Review  |  [Month Year]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Status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HIGH  |  5 MEDIUM  |  4 LOW  |  Total: 12 Open Risks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57200"/>
                <a:gridCol w="457200"/>
                <a:gridCol w="548640"/>
                <a:gridCol w="640080"/>
                <a:gridCol w="35661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Status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test schedule compression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39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test plan approved; weekend staffing authorized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personnel vacancy (Deputy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Recruiting in progress; 3 candidates in pipeline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Subcontractor deliverable quality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quality reviews implemented; CAR issued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Funding uncertainty (FY27 POM)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39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POM submission complete; PEO advocacy scheduled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CMMC Level 2 assessment timeline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C3PAO engagement initiated; target Aug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86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risk this period: CMMC assessment timeline added based on C3PAO scheduling constraints. Closed risk: Software license expiration (renewed through FY27).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[Program Name]  |  Program Status Review  |  [Month Year]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Progress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00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Accomplishments This Period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CDR close-out with 3 minor RFAs resolved</a:t>
            </a:r>
            <a:endParaRPr lang="en-US" sz="11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Build 3.1 passed all unit tests (98.7% code coverage)</a:t>
            </a:r>
            <a:endParaRPr lang="en-US" sz="11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Control Documents updated for 4 external systems</a:t>
            </a:r>
            <a:endParaRPr lang="en-US" sz="11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RMF Assessment package submitted to SCA</a:t>
            </a:r>
            <a:endParaRPr lang="en-US" sz="1100" dirty="0"/>
          </a:p>
          <a:p>
            <a:pPr algn="l"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3 CDRLs on schedule (SDD, IDD, STP)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0" y="1097280"/>
            <a:ext cx="4114800" cy="3200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143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Next Period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160020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Integration Test execution (target 15 Apr)</a:t>
            </a:r>
            <a:endParaRPr lang="en-US" sz="11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Software Build 3.2 development and unit testing</a:t>
            </a:r>
            <a:endParaRPr lang="en-US" sz="11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ITRR (Integration Test Readiness Review)</a:t>
            </a:r>
            <a:endParaRPr lang="en-US" sz="11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system test procedures with IV&amp;V team</a:t>
            </a:r>
            <a:endParaRPr lang="en-US" sz="1100" dirty="0"/>
          </a:p>
          <a:p>
            <a:pPr algn="l"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RMF ATO package to AO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[Program Name]  |  Program Status Review  |  [Month Year]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 Performance Assessment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CPARS-aligned assessment for current evaluation period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91440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 Area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Quality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Satisfactory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Deliverables meet requirements; CDR completed with minor findings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Declining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14-day slip on CDR close-out; recovery plan submitted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Control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Satisfactory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CPI &gt; 1.0 for 6 consecutive months; good cost discipline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Satisfactory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Responsive to government direction; proactive risk management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Declining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Deputy PM vacancy persists; recruitment efforts underway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Regulatory Compliance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Satisfactory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regulatory requirements met; CMMC prep on track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Business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Satisfactory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Meeting SB goals; ISR/SSR submitted on 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[Program Name]  |  Program Status Review  |  [Month Year]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&amp; Action Items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1371600"/>
                <a:gridCol w="11887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 / Action 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 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 Deputy PM vacancy — present candidates to PM for selection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Contractor PM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Apr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39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AI-002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Submit Integration Test recovery plan with revised schedule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Contractor PM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Mar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39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AI-003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Contract Mod 04 for FY26 scope addition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Apr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AI-004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DCAA incurred cost audit response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Dir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Apr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C3PAO CMMC Level 2 assessment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Apr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39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EVM baseline for approved Mod 03 changes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Dir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Mar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 updated System Test Plan (CDRL A005)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Systems Engr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Apr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39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[Program Name]  |  Program Status Review  |  [Month Year]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 Forward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560320" cy="41148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51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30 Days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ITRR and begin Integration Testing</a:t>
            </a:r>
            <a:endParaRPr lang="en-US" sz="1000" dirty="0"/>
          </a:p>
          <a:p>
            <a:pPr algn="l"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Deputy PM vacancy</a:t>
            </a:r>
            <a:endParaRPr lang="en-US" sz="1000" dirty="0"/>
          </a:p>
          <a:p>
            <a:pPr algn="l"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Software Build 3.2</a:t>
            </a:r>
            <a:endParaRPr lang="en-US" sz="1000" dirty="0"/>
          </a:p>
          <a:p>
            <a:pPr algn="l"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Mod 04 for FY26 scope</a:t>
            </a:r>
            <a:endParaRPr lang="en-US" sz="1000" dirty="0"/>
          </a:p>
          <a:p>
            <a:pPr algn="l"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monthly CPR and IPR package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00400" y="1051560"/>
            <a:ext cx="2560320" cy="41148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0" y="1051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60 Days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33756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Integration Test Phase 1</a:t>
            </a:r>
            <a:endParaRPr lang="en-US" sz="1000" dirty="0"/>
          </a:p>
          <a:p>
            <a:pPr algn="l"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System Test procedures</a:t>
            </a:r>
            <a:endParaRPr lang="en-US" sz="1000" dirty="0"/>
          </a:p>
          <a:p>
            <a:pPr algn="l"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RMF ATO package</a:t>
            </a:r>
            <a:endParaRPr lang="en-US" sz="1000" dirty="0"/>
          </a:p>
          <a:p>
            <a:pPr algn="l"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Quarterly Program Review</a:t>
            </a:r>
            <a:endParaRPr lang="en-US" sz="1000" dirty="0"/>
          </a:p>
          <a:p>
            <a:pPr algn="l"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IGCE for Option Year 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0" y="1051560"/>
            <a:ext cx="2560320" cy="41148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0" y="1051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8076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all Integration Testing</a:t>
            </a:r>
            <a:endParaRPr lang="en-US" sz="1000" dirty="0"/>
          </a:p>
          <a:p>
            <a:pPr algn="l"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System Test execution</a:t>
            </a:r>
            <a:endParaRPr lang="en-US" sz="1000" dirty="0"/>
          </a:p>
          <a:p>
            <a:pPr algn="l"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CMMC Level 2 readiness</a:t>
            </a:r>
            <a:endParaRPr lang="en-US" sz="1000" dirty="0"/>
          </a:p>
          <a:p>
            <a:pPr algn="l"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IOT&amp;E entrance criteria brief</a:t>
            </a:r>
            <a:endParaRPr lang="en-US" sz="1000" dirty="0"/>
          </a:p>
          <a:p>
            <a:pPr algn="l"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FY27 funding request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Requested: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Approve Integration Test recovery plan (PM)    2. Authorize weekend staffing for test team (PEO)    3. Approve Mod 04 scope and funding (CO)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[Program Name]  |  Program Status Review  |  [Month Year]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/ Appendix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657600" y="2697480"/>
            <a:ext cx="1828800" cy="54864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detail, data tables, and additional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C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UNCLASSIFIED // FOUO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Acqlerate — Defense Acquisitions Academy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Acqlerate — Defense Acquisitions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Acqlerate</dc:creator>
  <cp:lastModifiedBy>Acqlerate</cp:lastModifiedBy>
  <cp:revision>1</cp:revision>
  <dcterms:created xsi:type="dcterms:W3CDTF">2026-03-23T14:38:20Z</dcterms:created>
  <dcterms:modified xsi:type="dcterms:W3CDTF">2026-03-23T14:38:20Z</dcterms:modified>
</cp:coreProperties>
</file>